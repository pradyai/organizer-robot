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0" d="100"/>
          <a:sy n="160" d="100"/>
        </p:scale>
        <p:origin x="51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37b50f5ba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g137b50f5ba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g137b50f5ba9_0_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4d873d1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34d873d1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134d873d17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4d873d17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134d873d17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g134d873d17d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37b50f5ba9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37b50f5ba9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g137b50f5ba9_0_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34d873d17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134d873d17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5" name="Google Shape;165;g134d873d17d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34d873d17d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134d873d17d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g134d873d17d_1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34d873d17d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134d873d17d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134d873d17d_1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Slide">
  <p:cSld name="Section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g137b50f5ba9_0_590"/>
          <p:cNvPicPr preferRelativeResize="0"/>
          <p:nvPr/>
        </p:nvPicPr>
        <p:blipFill rotWithShape="1">
          <a:blip r:embed="rId2">
            <a:alphaModFix/>
          </a:blip>
          <a:srcRect l="1709" t="6161" r="29" b="1090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137b50f5ba9_0_590"/>
          <p:cNvSpPr/>
          <p:nvPr/>
        </p:nvSpPr>
        <p:spPr>
          <a:xfrm>
            <a:off x="0" y="0"/>
            <a:ext cx="7390461" cy="5143500"/>
          </a:xfrm>
          <a:custGeom>
            <a:avLst/>
            <a:gdLst/>
            <a:ahLst/>
            <a:cxnLst/>
            <a:rect l="l" t="t" r="r" b="b"/>
            <a:pathLst>
              <a:path w="9821211" h="6858000" extrusionOk="0">
                <a:moveTo>
                  <a:pt x="163285" y="6849510"/>
                </a:moveTo>
                <a:lnTo>
                  <a:pt x="168187" y="6858000"/>
                </a:lnTo>
                <a:lnTo>
                  <a:pt x="163285" y="6858000"/>
                </a:lnTo>
                <a:close/>
                <a:moveTo>
                  <a:pt x="0" y="6849510"/>
                </a:moveTo>
                <a:lnTo>
                  <a:pt x="4902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63285" y="0"/>
                </a:lnTo>
                <a:lnTo>
                  <a:pt x="1746943" y="0"/>
                </a:lnTo>
                <a:lnTo>
                  <a:pt x="1910228" y="0"/>
                </a:lnTo>
                <a:lnTo>
                  <a:pt x="2971585" y="0"/>
                </a:lnTo>
                <a:lnTo>
                  <a:pt x="4114800" y="0"/>
                </a:lnTo>
                <a:lnTo>
                  <a:pt x="4441156" y="0"/>
                </a:lnTo>
                <a:lnTo>
                  <a:pt x="5861742" y="0"/>
                </a:lnTo>
                <a:lnTo>
                  <a:pt x="9821211" y="6858000"/>
                </a:lnTo>
                <a:lnTo>
                  <a:pt x="8400625" y="6858000"/>
                </a:lnTo>
                <a:lnTo>
                  <a:pt x="6931054" y="6858000"/>
                </a:lnTo>
                <a:lnTo>
                  <a:pt x="5869697" y="6858000"/>
                </a:lnTo>
                <a:lnTo>
                  <a:pt x="5706412" y="6858000"/>
                </a:lnTo>
                <a:lnTo>
                  <a:pt x="4924975" y="6858000"/>
                </a:lnTo>
                <a:lnTo>
                  <a:pt x="4119702" y="6858000"/>
                </a:lnTo>
                <a:lnTo>
                  <a:pt x="4114800" y="6858000"/>
                </a:lnTo>
                <a:lnTo>
                  <a:pt x="3504389" y="6858000"/>
                </a:lnTo>
                <a:lnTo>
                  <a:pt x="2699115" y="6858000"/>
                </a:lnTo>
                <a:lnTo>
                  <a:pt x="2694213" y="6858000"/>
                </a:lnTo>
                <a:lnTo>
                  <a:pt x="2034818" y="6858000"/>
                </a:lnTo>
                <a:lnTo>
                  <a:pt x="1229544" y="6858000"/>
                </a:lnTo>
                <a:lnTo>
                  <a:pt x="1224642" y="6858000"/>
                </a:lnTo>
                <a:lnTo>
                  <a:pt x="973461" y="6858000"/>
                </a:lnTo>
                <a:lnTo>
                  <a:pt x="810176" y="6858000"/>
                </a:lnTo>
                <a:lnTo>
                  <a:pt x="0" y="5454734"/>
                </a:lnTo>
                <a:close/>
              </a:path>
            </a:pathLst>
          </a:custGeom>
          <a:solidFill>
            <a:srgbClr val="FE1359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2" name="Google Shape;12;g137b50f5ba9_0_5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5123" y="350435"/>
            <a:ext cx="2613538" cy="3326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g137b50f5ba9_0_590"/>
          <p:cNvCxnSpPr/>
          <p:nvPr/>
        </p:nvCxnSpPr>
        <p:spPr>
          <a:xfrm>
            <a:off x="612322" y="3429000"/>
            <a:ext cx="459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14;g137b50f5ba9_0_590"/>
          <p:cNvSpPr txBox="1">
            <a:spLocks noGrp="1"/>
          </p:cNvSpPr>
          <p:nvPr>
            <p:ph type="body" idx="1"/>
          </p:nvPr>
        </p:nvSpPr>
        <p:spPr>
          <a:xfrm>
            <a:off x="612322" y="3550919"/>
            <a:ext cx="459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3238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3238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3238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3238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5" name="Google Shape;15;g137b50f5ba9_0_590"/>
          <p:cNvSpPr txBox="1">
            <a:spLocks noGrp="1"/>
          </p:cNvSpPr>
          <p:nvPr>
            <p:ph type="body" idx="2"/>
          </p:nvPr>
        </p:nvSpPr>
        <p:spPr>
          <a:xfrm>
            <a:off x="612322" y="2594719"/>
            <a:ext cx="6768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Slide">
  <p:cSld name="Intro Slide">
    <p:bg>
      <p:bgPr>
        <a:solidFill>
          <a:srgbClr val="F7F7F7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137b50f5ba9_0_597"/>
          <p:cNvSpPr txBox="1">
            <a:spLocks noGrp="1"/>
          </p:cNvSpPr>
          <p:nvPr>
            <p:ph type="title"/>
          </p:nvPr>
        </p:nvSpPr>
        <p:spPr>
          <a:xfrm>
            <a:off x="330705" y="165099"/>
            <a:ext cx="6455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>
            <a:endParaRPr/>
          </a:p>
        </p:txBody>
      </p:sp>
      <p:sp>
        <p:nvSpPr>
          <p:cNvPr id="18" name="Google Shape;18;g137b50f5ba9_0_597"/>
          <p:cNvSpPr txBox="1">
            <a:spLocks noGrp="1"/>
          </p:cNvSpPr>
          <p:nvPr>
            <p:ph type="body" idx="1"/>
          </p:nvPr>
        </p:nvSpPr>
        <p:spPr>
          <a:xfrm>
            <a:off x="330705" y="979084"/>
            <a:ext cx="8505600" cy="3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9" name="Google Shape;19;g137b50f5ba9_0_597"/>
          <p:cNvSpPr txBox="1"/>
          <p:nvPr/>
        </p:nvSpPr>
        <p:spPr>
          <a:xfrm>
            <a:off x="3996343" y="4911749"/>
            <a:ext cx="1173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98989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" name="Google Shape;20;g137b50f5ba9_0_597"/>
          <p:cNvSpPr txBox="1">
            <a:spLocks noGrp="1"/>
          </p:cNvSpPr>
          <p:nvPr>
            <p:ph type="body" idx="2"/>
          </p:nvPr>
        </p:nvSpPr>
        <p:spPr>
          <a:xfrm>
            <a:off x="330200" y="444898"/>
            <a:ext cx="64518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21" name="Google Shape;21;g137b50f5ba9_0_597"/>
          <p:cNvSpPr/>
          <p:nvPr/>
        </p:nvSpPr>
        <p:spPr>
          <a:xfrm rot="1798898">
            <a:off x="768063" y="-890835"/>
            <a:ext cx="5742397" cy="3311475"/>
          </a:xfrm>
          <a:custGeom>
            <a:avLst/>
            <a:gdLst/>
            <a:ahLst/>
            <a:cxnLst/>
            <a:rect l="l" t="t" r="r" b="b"/>
            <a:pathLst>
              <a:path w="7652279" h="4412849" extrusionOk="0">
                <a:moveTo>
                  <a:pt x="0" y="4397261"/>
                </a:moveTo>
                <a:lnTo>
                  <a:pt x="7616279" y="0"/>
                </a:lnTo>
                <a:lnTo>
                  <a:pt x="7652279" y="0"/>
                </a:lnTo>
                <a:lnTo>
                  <a:pt x="9000" y="4412849"/>
                </a:lnTo>
                <a:lnTo>
                  <a:pt x="0" y="4397261"/>
                </a:lnTo>
                <a:close/>
              </a:path>
            </a:pathLst>
          </a:custGeom>
          <a:solidFill>
            <a:srgbClr val="565656"/>
          </a:solidFill>
          <a:ln>
            <a:noFill/>
          </a:ln>
        </p:spPr>
        <p:txBody>
          <a:bodyPr spcFirstLastPara="1" wrap="square" lIns="68575" tIns="67500" rIns="68575" bIns="67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g137b50f5ba9_0_597"/>
          <p:cNvSpPr/>
          <p:nvPr/>
        </p:nvSpPr>
        <p:spPr>
          <a:xfrm>
            <a:off x="8330458" y="4724135"/>
            <a:ext cx="813828" cy="278111"/>
          </a:xfrm>
          <a:custGeom>
            <a:avLst/>
            <a:gdLst/>
            <a:ahLst/>
            <a:cxnLst/>
            <a:rect l="l" t="t" r="r" b="b"/>
            <a:pathLst>
              <a:path w="2009452" h="686693" extrusionOk="0">
                <a:moveTo>
                  <a:pt x="0" y="0"/>
                </a:moveTo>
                <a:lnTo>
                  <a:pt x="2009452" y="0"/>
                </a:lnTo>
                <a:lnTo>
                  <a:pt x="2009452" y="686693"/>
                </a:lnTo>
                <a:lnTo>
                  <a:pt x="396463" y="686693"/>
                </a:lnTo>
                <a:close/>
              </a:path>
            </a:pathLst>
          </a:custGeom>
          <a:solidFill>
            <a:srgbClr val="43464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" name="Google Shape;23;g137b50f5ba9_0_597"/>
          <p:cNvSpPr txBox="1">
            <a:spLocks noGrp="1"/>
          </p:cNvSpPr>
          <p:nvPr>
            <p:ph type="sldNum" idx="12"/>
          </p:nvPr>
        </p:nvSpPr>
        <p:spPr>
          <a:xfrm>
            <a:off x="8639098" y="4732908"/>
            <a:ext cx="393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g137b50f5ba9_0_597"/>
          <p:cNvSpPr/>
          <p:nvPr/>
        </p:nvSpPr>
        <p:spPr>
          <a:xfrm rot="-9001102" flipH="1">
            <a:off x="-219235" y="4440625"/>
            <a:ext cx="957811" cy="579155"/>
          </a:xfrm>
          <a:custGeom>
            <a:avLst/>
            <a:gdLst/>
            <a:ahLst/>
            <a:cxnLst/>
            <a:rect l="l" t="t" r="r" b="b"/>
            <a:pathLst>
              <a:path w="1276372" h="774011" extrusionOk="0">
                <a:moveTo>
                  <a:pt x="0" y="774011"/>
                </a:moveTo>
                <a:lnTo>
                  <a:pt x="1276372" y="104053"/>
                </a:lnTo>
                <a:lnTo>
                  <a:pt x="1096147" y="0"/>
                </a:lnTo>
                <a:lnTo>
                  <a:pt x="164562" y="488983"/>
                </a:lnTo>
                <a:close/>
              </a:path>
            </a:pathLst>
          </a:custGeom>
          <a:solidFill>
            <a:srgbClr val="FB1C5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" name="Google Shape;25;g137b50f5ba9_0_597"/>
          <p:cNvSpPr/>
          <p:nvPr/>
        </p:nvSpPr>
        <p:spPr>
          <a:xfrm rot="-9001102" flipH="1">
            <a:off x="-107114" y="4849380"/>
            <a:ext cx="391715" cy="282874"/>
          </a:xfrm>
          <a:custGeom>
            <a:avLst/>
            <a:gdLst/>
            <a:ahLst/>
            <a:cxnLst/>
            <a:rect l="l" t="t" r="r" b="b"/>
            <a:pathLst>
              <a:path w="521997" h="378046" extrusionOk="0">
                <a:moveTo>
                  <a:pt x="0" y="378046"/>
                </a:moveTo>
                <a:lnTo>
                  <a:pt x="521997" y="104053"/>
                </a:lnTo>
                <a:lnTo>
                  <a:pt x="341772" y="0"/>
                </a:lnTo>
                <a:lnTo>
                  <a:pt x="164561" y="93017"/>
                </a:lnTo>
                <a:close/>
              </a:path>
            </a:pathLst>
          </a:custGeom>
          <a:solidFill>
            <a:srgbClr val="FB1C5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6" name="Google Shape;26;g137b50f5ba9_0_5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60599" y="4831681"/>
            <a:ext cx="2524709" cy="98007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g137b50f5ba9_0_597"/>
          <p:cNvSpPr/>
          <p:nvPr/>
        </p:nvSpPr>
        <p:spPr>
          <a:xfrm rot="-9001102" flipH="1">
            <a:off x="8890879" y="-5367"/>
            <a:ext cx="340235" cy="255930"/>
          </a:xfrm>
          <a:custGeom>
            <a:avLst/>
            <a:gdLst/>
            <a:ahLst/>
            <a:cxnLst/>
            <a:rect l="l" t="t" r="r" b="b"/>
            <a:pathLst>
              <a:path w="453395" h="342037" extrusionOk="0">
                <a:moveTo>
                  <a:pt x="0" y="237984"/>
                </a:moveTo>
                <a:lnTo>
                  <a:pt x="180224" y="342037"/>
                </a:lnTo>
                <a:lnTo>
                  <a:pt x="288834" y="285028"/>
                </a:lnTo>
                <a:lnTo>
                  <a:pt x="453395" y="0"/>
                </a:lnTo>
                <a:close/>
              </a:path>
            </a:pathLst>
          </a:custGeom>
          <a:solidFill>
            <a:srgbClr val="FB1C5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" name="Google Shape;28;g137b50f5ba9_0_597"/>
          <p:cNvSpPr/>
          <p:nvPr/>
        </p:nvSpPr>
        <p:spPr>
          <a:xfrm rot="-9001102" flipH="1">
            <a:off x="8448793" y="115153"/>
            <a:ext cx="890322" cy="545720"/>
          </a:xfrm>
          <a:custGeom>
            <a:avLst/>
            <a:gdLst/>
            <a:ahLst/>
            <a:cxnLst/>
            <a:rect l="l" t="t" r="r" b="b"/>
            <a:pathLst>
              <a:path w="1186437" h="729327" extrusionOk="0">
                <a:moveTo>
                  <a:pt x="0" y="628050"/>
                </a:moveTo>
                <a:lnTo>
                  <a:pt x="175417" y="729327"/>
                </a:lnTo>
                <a:lnTo>
                  <a:pt x="1021877" y="285027"/>
                </a:lnTo>
                <a:lnTo>
                  <a:pt x="1186437" y="0"/>
                </a:lnTo>
                <a:lnTo>
                  <a:pt x="0" y="622752"/>
                </a:lnTo>
                <a:close/>
              </a:path>
            </a:pathLst>
          </a:custGeom>
          <a:solidFill>
            <a:srgbClr val="FB1C5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9" name="Google Shape;29;g137b50f5ba9_0_5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58619" y="326996"/>
            <a:ext cx="1440724" cy="30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t Slide">
  <p:cSld name="3_Content Slide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g137b50f5ba9_0_5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26079" y="4622006"/>
            <a:ext cx="292894" cy="341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g137b50f5ba9_0_5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59079" y="4758928"/>
            <a:ext cx="2525316" cy="9763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137b50f5ba9_0_579"/>
          <p:cNvSpPr txBox="1"/>
          <p:nvPr/>
        </p:nvSpPr>
        <p:spPr>
          <a:xfrm>
            <a:off x="413147" y="4611291"/>
            <a:ext cx="3930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464646"/>
                </a:solidFill>
                <a:latin typeface="Livvic"/>
                <a:ea typeface="Livvic"/>
                <a:cs typeface="Livvic"/>
                <a:sym typeface="Livvic"/>
              </a:rPr>
              <a:t>‹#›</a:t>
            </a:fld>
            <a:endParaRPr sz="800" b="0" i="0" u="none" strike="noStrike" cap="none">
              <a:solidFill>
                <a:srgbClr val="464646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cxnSp>
        <p:nvCxnSpPr>
          <p:cNvPr id="75" name="Google Shape;75;g137b50f5ba9_0_579"/>
          <p:cNvCxnSpPr/>
          <p:nvPr/>
        </p:nvCxnSpPr>
        <p:spPr>
          <a:xfrm>
            <a:off x="454819" y="953691"/>
            <a:ext cx="4152900" cy="0"/>
          </a:xfrm>
          <a:prstGeom prst="straightConnector1">
            <a:avLst/>
          </a:prstGeom>
          <a:noFill/>
          <a:ln w="12700" cap="flat" cmpd="sng">
            <a:solidFill>
              <a:srgbClr val="4646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g137b50f5ba9_0_579"/>
          <p:cNvSpPr txBox="1">
            <a:spLocks noGrp="1"/>
          </p:cNvSpPr>
          <p:nvPr>
            <p:ph type="ctrTitle"/>
          </p:nvPr>
        </p:nvSpPr>
        <p:spPr>
          <a:xfrm>
            <a:off x="413387" y="254552"/>
            <a:ext cx="66276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>
            <a:endParaRPr/>
          </a:p>
        </p:txBody>
      </p:sp>
      <p:sp>
        <p:nvSpPr>
          <p:cNvPr id="77" name="Google Shape;77;g137b50f5ba9_0_579"/>
          <p:cNvSpPr txBox="1">
            <a:spLocks noGrp="1"/>
          </p:cNvSpPr>
          <p:nvPr>
            <p:ph type="body" idx="1"/>
          </p:nvPr>
        </p:nvSpPr>
        <p:spPr>
          <a:xfrm>
            <a:off x="413387" y="1095789"/>
            <a:ext cx="8505600" cy="3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78" name="Google Shape;78;g137b50f5ba9_0_579"/>
          <p:cNvSpPr txBox="1">
            <a:spLocks noGrp="1"/>
          </p:cNvSpPr>
          <p:nvPr>
            <p:ph type="body" idx="2"/>
          </p:nvPr>
        </p:nvSpPr>
        <p:spPr>
          <a:xfrm>
            <a:off x="413386" y="616020"/>
            <a:ext cx="75693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79" name="Google Shape;79;g137b50f5ba9_0_57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80" name="Google Shape;80;g137b50f5ba9_0_57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81" name="Google Shape;81;g137b50f5ba9_0_579"/>
          <p:cNvSpPr txBox="1">
            <a:spLocks noGrp="1"/>
          </p:cNvSpPr>
          <p:nvPr>
            <p:ph type="sldNum" idx="12"/>
          </p:nvPr>
        </p:nvSpPr>
        <p:spPr>
          <a:xfrm>
            <a:off x="8446517" y="4777187"/>
            <a:ext cx="393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137b50f5ba9_0_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00651"/>
            <a:ext cx="9144696" cy="607741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137b50f5ba9_0_71"/>
          <p:cNvSpPr/>
          <p:nvPr/>
        </p:nvSpPr>
        <p:spPr>
          <a:xfrm>
            <a:off x="-699" y="0"/>
            <a:ext cx="7365908" cy="5143500"/>
          </a:xfrm>
          <a:custGeom>
            <a:avLst/>
            <a:gdLst/>
            <a:ahLst/>
            <a:cxnLst/>
            <a:rect l="l" t="t" r="r" b="b"/>
            <a:pathLst>
              <a:path w="9821211" h="6858000" extrusionOk="0">
                <a:moveTo>
                  <a:pt x="163285" y="6849510"/>
                </a:moveTo>
                <a:lnTo>
                  <a:pt x="168187" y="6858000"/>
                </a:lnTo>
                <a:lnTo>
                  <a:pt x="163285" y="6858000"/>
                </a:lnTo>
                <a:close/>
                <a:moveTo>
                  <a:pt x="0" y="6849510"/>
                </a:moveTo>
                <a:lnTo>
                  <a:pt x="4902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63285" y="0"/>
                </a:lnTo>
                <a:lnTo>
                  <a:pt x="1746943" y="0"/>
                </a:lnTo>
                <a:lnTo>
                  <a:pt x="1910228" y="0"/>
                </a:lnTo>
                <a:lnTo>
                  <a:pt x="2971585" y="0"/>
                </a:lnTo>
                <a:lnTo>
                  <a:pt x="4114800" y="0"/>
                </a:lnTo>
                <a:lnTo>
                  <a:pt x="4441156" y="0"/>
                </a:lnTo>
                <a:lnTo>
                  <a:pt x="5861742" y="0"/>
                </a:lnTo>
                <a:lnTo>
                  <a:pt x="9821211" y="6858000"/>
                </a:lnTo>
                <a:lnTo>
                  <a:pt x="8400625" y="6858000"/>
                </a:lnTo>
                <a:lnTo>
                  <a:pt x="6931054" y="6858000"/>
                </a:lnTo>
                <a:lnTo>
                  <a:pt x="5869697" y="6858000"/>
                </a:lnTo>
                <a:lnTo>
                  <a:pt x="5706412" y="6858000"/>
                </a:lnTo>
                <a:lnTo>
                  <a:pt x="4924975" y="6858000"/>
                </a:lnTo>
                <a:lnTo>
                  <a:pt x="4119702" y="6858000"/>
                </a:lnTo>
                <a:lnTo>
                  <a:pt x="4114800" y="6858000"/>
                </a:lnTo>
                <a:lnTo>
                  <a:pt x="3504389" y="6858000"/>
                </a:lnTo>
                <a:lnTo>
                  <a:pt x="2699115" y="6858000"/>
                </a:lnTo>
                <a:lnTo>
                  <a:pt x="2694213" y="6858000"/>
                </a:lnTo>
                <a:lnTo>
                  <a:pt x="2034818" y="6858000"/>
                </a:lnTo>
                <a:lnTo>
                  <a:pt x="1229544" y="6858000"/>
                </a:lnTo>
                <a:lnTo>
                  <a:pt x="1224642" y="6858000"/>
                </a:lnTo>
                <a:lnTo>
                  <a:pt x="973461" y="6858000"/>
                </a:lnTo>
                <a:lnTo>
                  <a:pt x="810176" y="6858000"/>
                </a:lnTo>
                <a:lnTo>
                  <a:pt x="0" y="5454734"/>
                </a:lnTo>
                <a:close/>
              </a:path>
            </a:pathLst>
          </a:custGeom>
          <a:solidFill>
            <a:srgbClr val="FE1359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9" name="Google Shape;89;g137b50f5ba9_0_71"/>
          <p:cNvSpPr txBox="1"/>
          <p:nvPr/>
        </p:nvSpPr>
        <p:spPr>
          <a:xfrm>
            <a:off x="244229" y="244650"/>
            <a:ext cx="4089300" cy="106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" sz="5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4</a:t>
            </a:r>
            <a:endParaRPr sz="10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g137b50f5ba9_0_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5123" y="350435"/>
            <a:ext cx="2613538" cy="3326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g137b50f5ba9_0_71"/>
          <p:cNvCxnSpPr/>
          <p:nvPr/>
        </p:nvCxnSpPr>
        <p:spPr>
          <a:xfrm>
            <a:off x="244213" y="1264541"/>
            <a:ext cx="4592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g137b50f5ba9_0_71"/>
          <p:cNvSpPr txBox="1"/>
          <p:nvPr/>
        </p:nvSpPr>
        <p:spPr>
          <a:xfrm>
            <a:off x="8314989" y="683067"/>
            <a:ext cx="1127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Aachen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137b50f5ba9_0_71"/>
          <p:cNvSpPr txBox="1"/>
          <p:nvPr/>
        </p:nvSpPr>
        <p:spPr>
          <a:xfrm>
            <a:off x="244232" y="1384150"/>
            <a:ext cx="4739700" cy="844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" sz="4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Organizer Robot  </a:t>
            </a:r>
            <a:endParaRPr sz="9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137b50f5ba9_0_71"/>
          <p:cNvSpPr txBox="1"/>
          <p:nvPr/>
        </p:nvSpPr>
        <p:spPr>
          <a:xfrm>
            <a:off x="547257" y="2571750"/>
            <a:ext cx="4739700" cy="2063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Team: 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Prady</a:t>
            </a:r>
            <a:r>
              <a:rPr lang="en" sz="1800" dirty="0">
                <a:solidFill>
                  <a:schemeClr val="lt1"/>
                </a:solidFill>
              </a:rPr>
              <a:t>umn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 dirty="0">
                <a:solidFill>
                  <a:schemeClr val="lt1"/>
                </a:solidFill>
              </a:rPr>
              <a:t>Shubham</a:t>
            </a:r>
            <a:endParaRPr sz="1800" dirty="0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 dirty="0">
                <a:solidFill>
                  <a:schemeClr val="lt1"/>
                </a:solidFill>
              </a:rPr>
              <a:t>Ahmed</a:t>
            </a:r>
            <a:endParaRPr sz="1800" dirty="0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 dirty="0">
                <a:solidFill>
                  <a:schemeClr val="lt1"/>
                </a:solidFill>
              </a:rPr>
              <a:t>Hisham</a:t>
            </a:r>
            <a:endParaRPr sz="1800" dirty="0">
              <a:solidFill>
                <a:schemeClr val="lt1"/>
              </a:solidFill>
            </a:endParaRPr>
          </a:p>
          <a:p>
            <a:pPr marL="1143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Mentor: Amine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4d873d17d_0_0"/>
          <p:cNvSpPr txBox="1"/>
          <p:nvPr/>
        </p:nvSpPr>
        <p:spPr>
          <a:xfrm>
            <a:off x="406900" y="1128346"/>
            <a:ext cx="69351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de-DE" dirty="0"/>
              <a:t>Desk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unorganized</a:t>
            </a:r>
            <a:r>
              <a:rPr lang="de-DE" dirty="0"/>
              <a:t> and </a:t>
            </a:r>
            <a:r>
              <a:rPr lang="de-DE" dirty="0" err="1"/>
              <a:t>too</a:t>
            </a:r>
            <a:r>
              <a:rPr lang="de-DE" dirty="0"/>
              <a:t> </a:t>
            </a:r>
            <a:r>
              <a:rPr lang="de-DE" dirty="0" err="1"/>
              <a:t>tired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clean </a:t>
            </a:r>
            <a:r>
              <a:rPr lang="de-DE" dirty="0" err="1"/>
              <a:t>it</a:t>
            </a:r>
            <a:r>
              <a:rPr lang="de-DE" dirty="0"/>
              <a:t> after </a:t>
            </a:r>
            <a:r>
              <a:rPr lang="de-DE" dirty="0" err="1"/>
              <a:t>work</a:t>
            </a:r>
            <a:endParaRPr lang="de-DE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de-DE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However</a:t>
            </a:r>
            <a:r>
              <a:rPr lang="de-DE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de-DE" dirty="0"/>
              <a:t>clean </a:t>
            </a:r>
            <a:r>
              <a:rPr lang="de-DE" dirty="0" err="1"/>
              <a:t>desk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needed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perform at maximum </a:t>
            </a:r>
            <a:r>
              <a:rPr lang="de-DE" dirty="0" err="1"/>
              <a:t>efficiency</a:t>
            </a:r>
            <a:endParaRPr lang="de-DE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de-DE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de-DE" dirty="0"/>
              <a:t>Solution: Use a </a:t>
            </a:r>
            <a:r>
              <a:rPr lang="de-DE" dirty="0" err="1"/>
              <a:t>gripper</a:t>
            </a:r>
            <a:r>
              <a:rPr lang="de-DE" dirty="0"/>
              <a:t> </a:t>
            </a:r>
            <a:r>
              <a:rPr lang="de-DE" dirty="0" err="1"/>
              <a:t>robot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organize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preferred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!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101" name="Google Shape;101;g134d873d17d_0_0"/>
          <p:cNvSpPr txBox="1">
            <a:spLocks noGrp="1"/>
          </p:cNvSpPr>
          <p:nvPr>
            <p:ph type="title"/>
          </p:nvPr>
        </p:nvSpPr>
        <p:spPr>
          <a:xfrm>
            <a:off x="330705" y="393699"/>
            <a:ext cx="6455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What’s our project about?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78A1E3-4278-B520-36A1-F25DF06D90FE}"/>
              </a:ext>
            </a:extLst>
          </p:cNvPr>
          <p:cNvSpPr txBox="1"/>
          <p:nvPr/>
        </p:nvSpPr>
        <p:spPr>
          <a:xfrm>
            <a:off x="402566" y="2518913"/>
            <a:ext cx="6918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How</a:t>
            </a:r>
            <a:r>
              <a:rPr lang="de-DE" dirty="0"/>
              <a:t>?: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Detect</a:t>
            </a:r>
            <a:r>
              <a:rPr lang="de-DE" dirty="0"/>
              <a:t> </a:t>
            </a:r>
            <a:r>
              <a:rPr lang="de-DE" dirty="0" err="1"/>
              <a:t>objects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Process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state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Calculate</a:t>
            </a:r>
            <a:r>
              <a:rPr lang="de-DE" dirty="0"/>
              <a:t> </a:t>
            </a:r>
            <a:r>
              <a:rPr lang="de-DE" dirty="0" err="1"/>
              <a:t>required</a:t>
            </a:r>
            <a:r>
              <a:rPr lang="de-DE" dirty="0"/>
              <a:t> </a:t>
            </a:r>
            <a:r>
              <a:rPr lang="de-DE" dirty="0" err="1"/>
              <a:t>actions</a:t>
            </a:r>
            <a:r>
              <a:rPr lang="de-DE" dirty="0"/>
              <a:t> and </a:t>
            </a:r>
            <a:r>
              <a:rPr lang="de-DE" dirty="0" err="1"/>
              <a:t>joint</a:t>
            </a:r>
            <a:r>
              <a:rPr lang="de-DE" dirty="0"/>
              <a:t> </a:t>
            </a:r>
            <a:r>
              <a:rPr lang="de-DE" dirty="0" err="1"/>
              <a:t>positions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Move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objects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desired</a:t>
            </a:r>
            <a:r>
              <a:rPr lang="de-DE" dirty="0"/>
              <a:t>, </a:t>
            </a:r>
            <a:r>
              <a:rPr lang="de-DE" dirty="0" err="1"/>
              <a:t>preset</a:t>
            </a:r>
            <a:r>
              <a:rPr lang="de-DE" dirty="0"/>
              <a:t> </a:t>
            </a:r>
            <a:r>
              <a:rPr lang="de-DE" dirty="0" err="1"/>
              <a:t>location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Output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success</a:t>
            </a:r>
            <a:endParaRPr 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4d873d17d_0_7"/>
          <p:cNvSpPr txBox="1">
            <a:spLocks noGrp="1"/>
          </p:cNvSpPr>
          <p:nvPr>
            <p:ph type="title"/>
          </p:nvPr>
        </p:nvSpPr>
        <p:spPr>
          <a:xfrm>
            <a:off x="330705" y="393699"/>
            <a:ext cx="6455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Milestones</a:t>
            </a:r>
            <a:endParaRPr/>
          </a:p>
        </p:txBody>
      </p:sp>
      <p:pic>
        <p:nvPicPr>
          <p:cNvPr id="108" name="Google Shape;108;g134d873d17d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59500" y="1219100"/>
            <a:ext cx="433425" cy="4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134d873d17d_0_7"/>
          <p:cNvSpPr txBox="1"/>
          <p:nvPr/>
        </p:nvSpPr>
        <p:spPr>
          <a:xfrm>
            <a:off x="7994100" y="1598525"/>
            <a:ext cx="108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Finish 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134d873d17d_0_7"/>
          <p:cNvSpPr txBox="1"/>
          <p:nvPr/>
        </p:nvSpPr>
        <p:spPr>
          <a:xfrm>
            <a:off x="8033100" y="893125"/>
            <a:ext cx="982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" sz="1050" dirty="0">
                <a:solidFill>
                  <a:schemeClr val="dk1"/>
                </a:solidFill>
              </a:rPr>
              <a:t>October</a:t>
            </a:r>
            <a:endParaRPr sz="1050" dirty="0"/>
          </a:p>
        </p:txBody>
      </p:sp>
      <p:grpSp>
        <p:nvGrpSpPr>
          <p:cNvPr id="111" name="Google Shape;111;g134d873d17d_0_7"/>
          <p:cNvGrpSpPr/>
          <p:nvPr/>
        </p:nvGrpSpPr>
        <p:grpSpPr>
          <a:xfrm>
            <a:off x="6555952" y="1239320"/>
            <a:ext cx="2305947" cy="3261805"/>
            <a:chOff x="6555952" y="1239320"/>
            <a:chExt cx="2305947" cy="3261805"/>
          </a:xfrm>
        </p:grpSpPr>
        <p:sp>
          <p:nvSpPr>
            <p:cNvPr id="112" name="Google Shape;112;g134d873d17d_0_7"/>
            <p:cNvSpPr/>
            <p:nvPr/>
          </p:nvSpPr>
          <p:spPr>
            <a:xfrm>
              <a:off x="6640805" y="1239320"/>
              <a:ext cx="404700" cy="393000"/>
            </a:xfrm>
            <a:prstGeom prst="ellipse">
              <a:avLst/>
            </a:prstGeom>
            <a:solidFill>
              <a:srgbClr val="FD0C5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134d873d17d_0_7"/>
            <p:cNvSpPr txBox="1"/>
            <p:nvPr/>
          </p:nvSpPr>
          <p:spPr>
            <a:xfrm>
              <a:off x="6555952" y="1731500"/>
              <a:ext cx="17982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en" sz="1050" dirty="0">
                  <a:solidFill>
                    <a:schemeClr val="dk1"/>
                  </a:solidFill>
                </a:rPr>
                <a:t>Finalize</a:t>
              </a:r>
              <a:endParaRPr sz="1050" dirty="0"/>
            </a:p>
          </p:txBody>
        </p:sp>
        <p:sp>
          <p:nvSpPr>
            <p:cNvPr id="114" name="Google Shape;114;g134d873d17d_0_7"/>
            <p:cNvSpPr txBox="1"/>
            <p:nvPr/>
          </p:nvSpPr>
          <p:spPr>
            <a:xfrm>
              <a:off x="6751099" y="3462525"/>
              <a:ext cx="21108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en" sz="1050" dirty="0">
                  <a:solidFill>
                    <a:schemeClr val="dk1"/>
                  </a:solidFill>
                </a:rPr>
                <a:t>Optimize running use-cases</a:t>
              </a:r>
              <a:endParaRPr sz="1050" dirty="0"/>
            </a:p>
          </p:txBody>
        </p:sp>
        <p:cxnSp>
          <p:nvCxnSpPr>
            <p:cNvPr id="115" name="Google Shape;115;g134d873d17d_0_7"/>
            <p:cNvCxnSpPr>
              <a:stCxn id="113" idx="1"/>
              <a:endCxn id="114" idx="1"/>
            </p:cNvCxnSpPr>
            <p:nvPr/>
          </p:nvCxnSpPr>
          <p:spPr>
            <a:xfrm>
              <a:off x="6555952" y="1904600"/>
              <a:ext cx="195000" cy="1731000"/>
            </a:xfrm>
            <a:prstGeom prst="bentConnector3">
              <a:avLst>
                <a:gd name="adj1" fmla="val -12211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6" name="Google Shape;116;g134d873d17d_0_7"/>
            <p:cNvSpPr txBox="1"/>
            <p:nvPr/>
          </p:nvSpPr>
          <p:spPr>
            <a:xfrm>
              <a:off x="6751099" y="3808725"/>
              <a:ext cx="21108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en" sz="1050" dirty="0">
                  <a:solidFill>
                    <a:schemeClr val="dk1"/>
                  </a:solidFill>
                </a:rPr>
                <a:t>Expand the dataset</a:t>
              </a:r>
              <a:endParaRPr sz="1050" dirty="0"/>
            </a:p>
          </p:txBody>
        </p:sp>
        <p:sp>
          <p:nvSpPr>
            <p:cNvPr id="117" name="Google Shape;117;g134d873d17d_0_7"/>
            <p:cNvSpPr txBox="1"/>
            <p:nvPr/>
          </p:nvSpPr>
          <p:spPr>
            <a:xfrm>
              <a:off x="6751099" y="4154925"/>
              <a:ext cx="21108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en" sz="1050" dirty="0">
                  <a:solidFill>
                    <a:schemeClr val="dk1"/>
                  </a:solidFill>
                </a:rPr>
                <a:t>Optional: Test on real robot</a:t>
              </a:r>
              <a:endParaRPr sz="1050" dirty="0"/>
            </a:p>
          </p:txBody>
        </p:sp>
        <p:cxnSp>
          <p:nvCxnSpPr>
            <p:cNvPr id="118" name="Google Shape;118;g134d873d17d_0_7"/>
            <p:cNvCxnSpPr>
              <a:stCxn id="113" idx="1"/>
              <a:endCxn id="116" idx="1"/>
            </p:cNvCxnSpPr>
            <p:nvPr/>
          </p:nvCxnSpPr>
          <p:spPr>
            <a:xfrm>
              <a:off x="6555952" y="1904600"/>
              <a:ext cx="195000" cy="2077200"/>
            </a:xfrm>
            <a:prstGeom prst="bentConnector3">
              <a:avLst>
                <a:gd name="adj1" fmla="val -12211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g134d873d17d_0_7"/>
            <p:cNvCxnSpPr>
              <a:stCxn id="113" idx="1"/>
              <a:endCxn id="117" idx="1"/>
            </p:cNvCxnSpPr>
            <p:nvPr/>
          </p:nvCxnSpPr>
          <p:spPr>
            <a:xfrm>
              <a:off x="6555952" y="1904600"/>
              <a:ext cx="195000" cy="2423400"/>
            </a:xfrm>
            <a:prstGeom prst="bentConnector3">
              <a:avLst>
                <a:gd name="adj1" fmla="val -12211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0" name="Google Shape;120;g134d873d17d_0_7"/>
          <p:cNvSpPr/>
          <p:nvPr/>
        </p:nvSpPr>
        <p:spPr>
          <a:xfrm>
            <a:off x="5143800" y="1360675"/>
            <a:ext cx="1347600" cy="150300"/>
          </a:xfrm>
          <a:prstGeom prst="rightArrow">
            <a:avLst>
              <a:gd name="adj1" fmla="val 24850"/>
              <a:gd name="adj2" fmla="val 33833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g134d873d17d_0_7"/>
          <p:cNvGrpSpPr/>
          <p:nvPr/>
        </p:nvGrpSpPr>
        <p:grpSpPr>
          <a:xfrm>
            <a:off x="4459002" y="1239332"/>
            <a:ext cx="2305947" cy="1876980"/>
            <a:chOff x="4383477" y="1239333"/>
            <a:chExt cx="2305947" cy="1876980"/>
          </a:xfrm>
        </p:grpSpPr>
        <p:sp>
          <p:nvSpPr>
            <p:cNvPr id="122" name="Google Shape;122;g134d873d17d_0_7"/>
            <p:cNvSpPr/>
            <p:nvPr/>
          </p:nvSpPr>
          <p:spPr>
            <a:xfrm>
              <a:off x="4496480" y="1239333"/>
              <a:ext cx="404700" cy="393000"/>
            </a:xfrm>
            <a:prstGeom prst="ellipse">
              <a:avLst/>
            </a:prstGeom>
            <a:solidFill>
              <a:srgbClr val="FD0C5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134d873d17d_0_7"/>
            <p:cNvSpPr txBox="1"/>
            <p:nvPr/>
          </p:nvSpPr>
          <p:spPr>
            <a:xfrm>
              <a:off x="4383477" y="1731513"/>
              <a:ext cx="17982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en" sz="1050" dirty="0">
                  <a:solidFill>
                    <a:schemeClr val="dk1"/>
                  </a:solidFill>
                </a:rPr>
                <a:t>Experimentation</a:t>
              </a:r>
              <a:endParaRPr sz="1050" dirty="0"/>
            </a:p>
          </p:txBody>
        </p:sp>
        <p:sp>
          <p:nvSpPr>
            <p:cNvPr id="124" name="Google Shape;124;g134d873d17d_0_7"/>
            <p:cNvSpPr txBox="1"/>
            <p:nvPr/>
          </p:nvSpPr>
          <p:spPr>
            <a:xfrm>
              <a:off x="4578624" y="2077713"/>
              <a:ext cx="21108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en" sz="1050" dirty="0">
                  <a:solidFill>
                    <a:schemeClr val="dk1"/>
                  </a:solidFill>
                </a:rPr>
                <a:t>Gather Virtual Data</a:t>
              </a:r>
              <a:endParaRPr sz="1050" dirty="0"/>
            </a:p>
          </p:txBody>
        </p:sp>
        <p:cxnSp>
          <p:nvCxnSpPr>
            <p:cNvPr id="125" name="Google Shape;125;g134d873d17d_0_7"/>
            <p:cNvCxnSpPr>
              <a:stCxn id="123" idx="1"/>
              <a:endCxn id="124" idx="1"/>
            </p:cNvCxnSpPr>
            <p:nvPr/>
          </p:nvCxnSpPr>
          <p:spPr>
            <a:xfrm>
              <a:off x="4383477" y="1904613"/>
              <a:ext cx="195000" cy="346200"/>
            </a:xfrm>
            <a:prstGeom prst="bentConnector3">
              <a:avLst>
                <a:gd name="adj1" fmla="val -12211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6" name="Google Shape;126;g134d873d17d_0_7"/>
            <p:cNvSpPr txBox="1"/>
            <p:nvPr/>
          </p:nvSpPr>
          <p:spPr>
            <a:xfrm>
              <a:off x="4578624" y="2423913"/>
              <a:ext cx="21108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en" sz="1050" dirty="0">
                  <a:solidFill>
                    <a:schemeClr val="dk1"/>
                  </a:solidFill>
                </a:rPr>
                <a:t>Customize ML model</a:t>
              </a:r>
              <a:endParaRPr sz="1050" dirty="0"/>
            </a:p>
          </p:txBody>
        </p:sp>
        <p:sp>
          <p:nvSpPr>
            <p:cNvPr id="127" name="Google Shape;127;g134d873d17d_0_7"/>
            <p:cNvSpPr txBox="1"/>
            <p:nvPr/>
          </p:nvSpPr>
          <p:spPr>
            <a:xfrm>
              <a:off x="4496475" y="2770113"/>
              <a:ext cx="2192949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de-DE" sz="1050" dirty="0"/>
                <a:t>Run </a:t>
              </a:r>
              <a:r>
                <a:rPr lang="de-DE" sz="1050" dirty="0" err="1"/>
                <a:t>custom</a:t>
              </a:r>
              <a:r>
                <a:rPr lang="de-DE" sz="1050" dirty="0"/>
                <a:t> </a:t>
              </a:r>
              <a:r>
                <a:rPr lang="de-DE" sz="1050" dirty="0" err="1"/>
                <a:t>model</a:t>
              </a:r>
              <a:r>
                <a:rPr lang="de-DE" sz="1050" dirty="0"/>
                <a:t> on </a:t>
              </a:r>
              <a:r>
                <a:rPr lang="de-DE" sz="1050" dirty="0" err="1"/>
                <a:t>data</a:t>
              </a:r>
              <a:endParaRPr sz="1050" dirty="0"/>
            </a:p>
          </p:txBody>
        </p:sp>
        <p:cxnSp>
          <p:nvCxnSpPr>
            <p:cNvPr id="128" name="Google Shape;128;g134d873d17d_0_7"/>
            <p:cNvCxnSpPr>
              <a:stCxn id="123" idx="1"/>
              <a:endCxn id="126" idx="1"/>
            </p:cNvCxnSpPr>
            <p:nvPr/>
          </p:nvCxnSpPr>
          <p:spPr>
            <a:xfrm>
              <a:off x="4383477" y="1904613"/>
              <a:ext cx="195000" cy="692400"/>
            </a:xfrm>
            <a:prstGeom prst="bentConnector3">
              <a:avLst>
                <a:gd name="adj1" fmla="val -12211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Google Shape;129;g134d873d17d_0_7"/>
            <p:cNvCxnSpPr>
              <a:cxnSpLocks/>
              <a:stCxn id="123" idx="1"/>
              <a:endCxn id="127" idx="1"/>
            </p:cNvCxnSpPr>
            <p:nvPr/>
          </p:nvCxnSpPr>
          <p:spPr>
            <a:xfrm rot="10800000" flipH="1" flipV="1">
              <a:off x="4383477" y="1904613"/>
              <a:ext cx="112998" cy="1038600"/>
            </a:xfrm>
            <a:prstGeom prst="bentConnector3">
              <a:avLst>
                <a:gd name="adj1" fmla="val -202304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0" name="Google Shape;130;g134d873d17d_0_7"/>
          <p:cNvGrpSpPr/>
          <p:nvPr/>
        </p:nvGrpSpPr>
        <p:grpSpPr>
          <a:xfrm>
            <a:off x="2362052" y="1239332"/>
            <a:ext cx="2305947" cy="3261780"/>
            <a:chOff x="1941377" y="1239333"/>
            <a:chExt cx="2305947" cy="3261780"/>
          </a:xfrm>
        </p:grpSpPr>
        <p:sp>
          <p:nvSpPr>
            <p:cNvPr id="131" name="Google Shape;131;g134d873d17d_0_7"/>
            <p:cNvSpPr/>
            <p:nvPr/>
          </p:nvSpPr>
          <p:spPr>
            <a:xfrm>
              <a:off x="2026305" y="1239333"/>
              <a:ext cx="404700" cy="393000"/>
            </a:xfrm>
            <a:prstGeom prst="ellipse">
              <a:avLst/>
            </a:prstGeom>
            <a:solidFill>
              <a:srgbClr val="FD0C5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g134d873d17d_0_7"/>
            <p:cNvSpPr txBox="1"/>
            <p:nvPr/>
          </p:nvSpPr>
          <p:spPr>
            <a:xfrm>
              <a:off x="1941377" y="1731513"/>
              <a:ext cx="17982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en" sz="1050" dirty="0">
                  <a:solidFill>
                    <a:schemeClr val="dk1"/>
                  </a:solidFill>
                </a:rPr>
                <a:t>Initial programs</a:t>
              </a:r>
              <a:endParaRPr sz="1050" dirty="0"/>
            </a:p>
          </p:txBody>
        </p:sp>
        <p:sp>
          <p:nvSpPr>
            <p:cNvPr id="133" name="Google Shape;133;g134d873d17d_0_7"/>
            <p:cNvSpPr txBox="1"/>
            <p:nvPr/>
          </p:nvSpPr>
          <p:spPr>
            <a:xfrm>
              <a:off x="2136524" y="3462513"/>
              <a:ext cx="21108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en" sz="1050" dirty="0">
                  <a:solidFill>
                    <a:schemeClr val="dk1"/>
                  </a:solidFill>
                </a:rPr>
                <a:t>Simulation Set-Up</a:t>
              </a:r>
              <a:endParaRPr sz="1050" dirty="0"/>
            </a:p>
          </p:txBody>
        </p:sp>
        <p:cxnSp>
          <p:nvCxnSpPr>
            <p:cNvPr id="134" name="Google Shape;134;g134d873d17d_0_7"/>
            <p:cNvCxnSpPr>
              <a:stCxn id="132" idx="1"/>
              <a:endCxn id="133" idx="1"/>
            </p:cNvCxnSpPr>
            <p:nvPr/>
          </p:nvCxnSpPr>
          <p:spPr>
            <a:xfrm>
              <a:off x="1941377" y="1904613"/>
              <a:ext cx="195000" cy="1731000"/>
            </a:xfrm>
            <a:prstGeom prst="bentConnector3">
              <a:avLst>
                <a:gd name="adj1" fmla="val -12211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g134d873d17d_0_7"/>
            <p:cNvSpPr txBox="1"/>
            <p:nvPr/>
          </p:nvSpPr>
          <p:spPr>
            <a:xfrm>
              <a:off x="2136524" y="3808713"/>
              <a:ext cx="21108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en" sz="1050" dirty="0">
                  <a:solidFill>
                    <a:schemeClr val="dk1"/>
                  </a:solidFill>
                </a:rPr>
                <a:t>Model Set-Up</a:t>
              </a:r>
              <a:endParaRPr sz="1050" dirty="0"/>
            </a:p>
          </p:txBody>
        </p:sp>
        <p:sp>
          <p:nvSpPr>
            <p:cNvPr id="136" name="Google Shape;136;g134d873d17d_0_7"/>
            <p:cNvSpPr txBox="1"/>
            <p:nvPr/>
          </p:nvSpPr>
          <p:spPr>
            <a:xfrm>
              <a:off x="2136524" y="4154913"/>
              <a:ext cx="21108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en" sz="1050" dirty="0">
                  <a:solidFill>
                    <a:schemeClr val="dk1"/>
                  </a:solidFill>
                </a:rPr>
                <a:t>Data Definition</a:t>
              </a:r>
              <a:endParaRPr sz="1050" dirty="0"/>
            </a:p>
          </p:txBody>
        </p:sp>
        <p:cxnSp>
          <p:nvCxnSpPr>
            <p:cNvPr id="137" name="Google Shape;137;g134d873d17d_0_7"/>
            <p:cNvCxnSpPr>
              <a:stCxn id="132" idx="1"/>
              <a:endCxn id="135" idx="1"/>
            </p:cNvCxnSpPr>
            <p:nvPr/>
          </p:nvCxnSpPr>
          <p:spPr>
            <a:xfrm>
              <a:off x="1941377" y="1904613"/>
              <a:ext cx="195000" cy="2077200"/>
            </a:xfrm>
            <a:prstGeom prst="bentConnector3">
              <a:avLst>
                <a:gd name="adj1" fmla="val -12211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" name="Google Shape;138;g134d873d17d_0_7"/>
            <p:cNvCxnSpPr>
              <a:stCxn id="132" idx="1"/>
              <a:endCxn id="136" idx="1"/>
            </p:cNvCxnSpPr>
            <p:nvPr/>
          </p:nvCxnSpPr>
          <p:spPr>
            <a:xfrm>
              <a:off x="1941377" y="1904613"/>
              <a:ext cx="195000" cy="2423400"/>
            </a:xfrm>
            <a:prstGeom prst="bentConnector3">
              <a:avLst>
                <a:gd name="adj1" fmla="val -12211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9" name="Google Shape;139;g134d873d17d_0_7"/>
          <p:cNvGrpSpPr/>
          <p:nvPr/>
        </p:nvGrpSpPr>
        <p:grpSpPr>
          <a:xfrm>
            <a:off x="265102" y="1239332"/>
            <a:ext cx="2305947" cy="1876980"/>
            <a:chOff x="265102" y="1239333"/>
            <a:chExt cx="2305947" cy="1876980"/>
          </a:xfrm>
        </p:grpSpPr>
        <p:sp>
          <p:nvSpPr>
            <p:cNvPr id="140" name="Google Shape;140;g134d873d17d_0_7"/>
            <p:cNvSpPr/>
            <p:nvPr/>
          </p:nvSpPr>
          <p:spPr>
            <a:xfrm>
              <a:off x="350155" y="1239333"/>
              <a:ext cx="404700" cy="393000"/>
            </a:xfrm>
            <a:prstGeom prst="ellipse">
              <a:avLst/>
            </a:prstGeom>
            <a:solidFill>
              <a:srgbClr val="FD0C5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134d873d17d_0_7"/>
            <p:cNvSpPr txBox="1"/>
            <p:nvPr/>
          </p:nvSpPr>
          <p:spPr>
            <a:xfrm>
              <a:off x="265102" y="1731513"/>
              <a:ext cx="17982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en" sz="1050" dirty="0">
                  <a:solidFill>
                    <a:schemeClr val="dk1"/>
                  </a:solidFill>
                </a:rPr>
                <a:t>Information gathering</a:t>
              </a:r>
              <a:endParaRPr sz="1050" dirty="0"/>
            </a:p>
          </p:txBody>
        </p:sp>
        <p:sp>
          <p:nvSpPr>
            <p:cNvPr id="142" name="Google Shape;142;g134d873d17d_0_7"/>
            <p:cNvSpPr txBox="1"/>
            <p:nvPr/>
          </p:nvSpPr>
          <p:spPr>
            <a:xfrm>
              <a:off x="460249" y="2077713"/>
              <a:ext cx="21108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en" sz="1050" dirty="0">
                  <a:solidFill>
                    <a:schemeClr val="dk1"/>
                  </a:solidFill>
                </a:rPr>
                <a:t>Research</a:t>
              </a:r>
              <a:endParaRPr sz="1050" dirty="0"/>
            </a:p>
          </p:txBody>
        </p:sp>
        <p:cxnSp>
          <p:nvCxnSpPr>
            <p:cNvPr id="143" name="Google Shape;143;g134d873d17d_0_7"/>
            <p:cNvCxnSpPr>
              <a:stCxn id="141" idx="1"/>
              <a:endCxn id="142" idx="1"/>
            </p:cNvCxnSpPr>
            <p:nvPr/>
          </p:nvCxnSpPr>
          <p:spPr>
            <a:xfrm>
              <a:off x="265102" y="1904613"/>
              <a:ext cx="195000" cy="346200"/>
            </a:xfrm>
            <a:prstGeom prst="bentConnector3">
              <a:avLst>
                <a:gd name="adj1" fmla="val -12211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" name="Google Shape;144;g134d873d17d_0_7"/>
            <p:cNvSpPr txBox="1"/>
            <p:nvPr/>
          </p:nvSpPr>
          <p:spPr>
            <a:xfrm>
              <a:off x="460249" y="2423913"/>
              <a:ext cx="21108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en" sz="1050" dirty="0">
                  <a:solidFill>
                    <a:schemeClr val="dk1"/>
                  </a:solidFill>
                </a:rPr>
                <a:t>Define ML model</a:t>
              </a:r>
              <a:endParaRPr sz="1050" dirty="0"/>
            </a:p>
          </p:txBody>
        </p:sp>
        <p:cxnSp>
          <p:nvCxnSpPr>
            <p:cNvPr id="145" name="Google Shape;145;g134d873d17d_0_7"/>
            <p:cNvCxnSpPr>
              <a:stCxn id="141" idx="1"/>
              <a:endCxn id="144" idx="1"/>
            </p:cNvCxnSpPr>
            <p:nvPr/>
          </p:nvCxnSpPr>
          <p:spPr>
            <a:xfrm>
              <a:off x="265102" y="1904613"/>
              <a:ext cx="195000" cy="692400"/>
            </a:xfrm>
            <a:prstGeom prst="bentConnector3">
              <a:avLst>
                <a:gd name="adj1" fmla="val -12211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6" name="Google Shape;146;g134d873d17d_0_7"/>
            <p:cNvSpPr txBox="1"/>
            <p:nvPr/>
          </p:nvSpPr>
          <p:spPr>
            <a:xfrm>
              <a:off x="460249" y="2770113"/>
              <a:ext cx="21108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en" sz="1050" dirty="0">
                  <a:solidFill>
                    <a:schemeClr val="dk1"/>
                  </a:solidFill>
                </a:rPr>
                <a:t>Setting up environments</a:t>
              </a:r>
              <a:endParaRPr sz="1050" dirty="0"/>
            </a:p>
          </p:txBody>
        </p:sp>
        <p:cxnSp>
          <p:nvCxnSpPr>
            <p:cNvPr id="147" name="Google Shape;147;g134d873d17d_0_7"/>
            <p:cNvCxnSpPr>
              <a:stCxn id="141" idx="1"/>
              <a:endCxn id="146" idx="1"/>
            </p:cNvCxnSpPr>
            <p:nvPr/>
          </p:nvCxnSpPr>
          <p:spPr>
            <a:xfrm>
              <a:off x="265102" y="1904613"/>
              <a:ext cx="195000" cy="1038600"/>
            </a:xfrm>
            <a:prstGeom prst="bentConnector3">
              <a:avLst>
                <a:gd name="adj1" fmla="val -12211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8" name="Google Shape;148;g134d873d17d_0_7"/>
          <p:cNvSpPr/>
          <p:nvPr/>
        </p:nvSpPr>
        <p:spPr>
          <a:xfrm>
            <a:off x="3068725" y="1360675"/>
            <a:ext cx="1347600" cy="150300"/>
          </a:xfrm>
          <a:prstGeom prst="rightArrow">
            <a:avLst>
              <a:gd name="adj1" fmla="val 24850"/>
              <a:gd name="adj2" fmla="val 33833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134d873d17d_0_7"/>
          <p:cNvSpPr/>
          <p:nvPr/>
        </p:nvSpPr>
        <p:spPr>
          <a:xfrm>
            <a:off x="934125" y="1360675"/>
            <a:ext cx="1347600" cy="150300"/>
          </a:xfrm>
          <a:prstGeom prst="rightArrow">
            <a:avLst>
              <a:gd name="adj1" fmla="val 24850"/>
              <a:gd name="adj2" fmla="val 33833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134d873d17d_0_7"/>
          <p:cNvSpPr/>
          <p:nvPr/>
        </p:nvSpPr>
        <p:spPr>
          <a:xfrm>
            <a:off x="7218875" y="1360675"/>
            <a:ext cx="830400" cy="150300"/>
          </a:xfrm>
          <a:prstGeom prst="rightArrow">
            <a:avLst>
              <a:gd name="adj1" fmla="val 24850"/>
              <a:gd name="adj2" fmla="val 33833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134d873d17d_0_7"/>
          <p:cNvSpPr txBox="1"/>
          <p:nvPr/>
        </p:nvSpPr>
        <p:spPr>
          <a:xfrm>
            <a:off x="6317825" y="893125"/>
            <a:ext cx="982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" sz="1050" dirty="0">
                <a:solidFill>
                  <a:schemeClr val="dk1"/>
                </a:solidFill>
              </a:rPr>
              <a:t>01.09.2025</a:t>
            </a:r>
            <a:endParaRPr sz="1050" dirty="0">
              <a:solidFill>
                <a:schemeClr val="dk1"/>
              </a:solidFill>
            </a:endParaRPr>
          </a:p>
        </p:txBody>
      </p:sp>
      <p:sp>
        <p:nvSpPr>
          <p:cNvPr id="152" name="Google Shape;152;g134d873d17d_0_7"/>
          <p:cNvSpPr txBox="1"/>
          <p:nvPr/>
        </p:nvSpPr>
        <p:spPr>
          <a:xfrm>
            <a:off x="4220875" y="884963"/>
            <a:ext cx="982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" sz="1050" dirty="0">
                <a:solidFill>
                  <a:schemeClr val="dk1"/>
                </a:solidFill>
              </a:rPr>
              <a:t>01.08.2025</a:t>
            </a:r>
            <a:endParaRPr sz="1050" dirty="0">
              <a:solidFill>
                <a:schemeClr val="dk1"/>
              </a:solidFill>
            </a:endParaRPr>
          </a:p>
        </p:txBody>
      </p:sp>
      <p:sp>
        <p:nvSpPr>
          <p:cNvPr id="153" name="Google Shape;153;g134d873d17d_0_7"/>
          <p:cNvSpPr txBox="1"/>
          <p:nvPr/>
        </p:nvSpPr>
        <p:spPr>
          <a:xfrm>
            <a:off x="2123925" y="884963"/>
            <a:ext cx="982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" sz="1050" dirty="0">
                <a:solidFill>
                  <a:schemeClr val="dk1"/>
                </a:solidFill>
              </a:rPr>
              <a:t>01.07.2025</a:t>
            </a:r>
            <a:endParaRPr sz="1050" dirty="0">
              <a:solidFill>
                <a:schemeClr val="dk1"/>
              </a:solidFill>
            </a:endParaRPr>
          </a:p>
        </p:txBody>
      </p:sp>
      <p:sp>
        <p:nvSpPr>
          <p:cNvPr id="154" name="Google Shape;154;g134d873d17d_0_7"/>
          <p:cNvSpPr txBox="1"/>
          <p:nvPr/>
        </p:nvSpPr>
        <p:spPr>
          <a:xfrm>
            <a:off x="26975" y="884963"/>
            <a:ext cx="982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" sz="1050" dirty="0">
                <a:solidFill>
                  <a:schemeClr val="dk1"/>
                </a:solidFill>
              </a:rPr>
              <a:t>Kick-Off</a:t>
            </a:r>
            <a:endParaRPr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7b50f5ba9_0_81"/>
          <p:cNvSpPr txBox="1">
            <a:spLocks noGrp="1"/>
          </p:cNvSpPr>
          <p:nvPr>
            <p:ph type="title"/>
          </p:nvPr>
        </p:nvSpPr>
        <p:spPr>
          <a:xfrm>
            <a:off x="330705" y="393699"/>
            <a:ext cx="6455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Progress</a:t>
            </a:r>
            <a:endParaRPr/>
          </a:p>
        </p:txBody>
      </p:sp>
      <p:sp>
        <p:nvSpPr>
          <p:cNvPr id="161" name="Google Shape;161;g137b50f5ba9_0_81"/>
          <p:cNvSpPr txBox="1"/>
          <p:nvPr/>
        </p:nvSpPr>
        <p:spPr>
          <a:xfrm>
            <a:off x="330700" y="1028700"/>
            <a:ext cx="693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E51145-BD43-6EB3-48BA-2AB89BBE568F}"/>
              </a:ext>
            </a:extLst>
          </p:cNvPr>
          <p:cNvSpPr txBox="1"/>
          <p:nvPr/>
        </p:nvSpPr>
        <p:spPr>
          <a:xfrm>
            <a:off x="330700" y="1028700"/>
            <a:ext cx="837622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Discussed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approaches</a:t>
            </a:r>
            <a:r>
              <a:rPr lang="de-DE" dirty="0"/>
              <a:t>:</a:t>
            </a:r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Using</a:t>
            </a:r>
            <a:r>
              <a:rPr lang="de-DE" dirty="0"/>
              <a:t> a </a:t>
            </a:r>
            <a:r>
              <a:rPr lang="de-DE" dirty="0" err="1"/>
              <a:t>transformer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(</a:t>
            </a:r>
            <a:r>
              <a:rPr lang="de-DE" dirty="0" err="1"/>
              <a:t>OpenVLA</a:t>
            </a:r>
            <a:r>
              <a:rPr lang="de-DE" dirty="0"/>
              <a:t>)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Llama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detect</a:t>
            </a:r>
            <a:r>
              <a:rPr lang="de-DE" dirty="0"/>
              <a:t> </a:t>
            </a:r>
            <a:r>
              <a:rPr lang="de-DE" dirty="0" err="1"/>
              <a:t>objects</a:t>
            </a:r>
            <a:r>
              <a:rPr lang="de-DE" dirty="0"/>
              <a:t> and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framework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Splitting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workload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2 different </a:t>
            </a:r>
            <a:r>
              <a:rPr lang="de-DE" dirty="0" err="1"/>
              <a:t>stages</a:t>
            </a:r>
            <a:r>
              <a:rPr lang="de-DE" dirty="0"/>
              <a:t>:</a:t>
            </a:r>
          </a:p>
          <a:p>
            <a:pPr marL="342900" lvl="5" indent="-342900">
              <a:buFont typeface="+mj-lt"/>
              <a:buAutoNum type="arabicPeriod"/>
            </a:pP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detection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YOLO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detection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: A </a:t>
            </a:r>
            <a:r>
              <a:rPr lang="de-DE" dirty="0" err="1"/>
              <a:t>pretrained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customizability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objects</a:t>
            </a:r>
            <a:r>
              <a:rPr lang="de-DE" dirty="0"/>
              <a:t>, </a:t>
            </a:r>
            <a:r>
              <a:rPr lang="de-DE" dirty="0" err="1"/>
              <a:t>rather</a:t>
            </a:r>
            <a:r>
              <a:rPr lang="de-DE" dirty="0"/>
              <a:t> </a:t>
            </a:r>
            <a:r>
              <a:rPr lang="de-DE" dirty="0" err="1"/>
              <a:t>lightweight</a:t>
            </a:r>
            <a:endParaRPr lang="de-DE" dirty="0"/>
          </a:p>
          <a:p>
            <a:pPr marL="342900" lvl="5" indent="-342900">
              <a:buFont typeface="+mj-lt"/>
              <a:buAutoNum type="arabicPeriod"/>
            </a:pP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manipulation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a Reinforcement Learning </a:t>
            </a:r>
            <a:r>
              <a:rPr lang="de-DE" dirty="0" err="1"/>
              <a:t>approach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trains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desired</a:t>
            </a:r>
            <a:r>
              <a:rPr lang="de-DE" dirty="0"/>
              <a:t> </a:t>
            </a:r>
            <a:r>
              <a:rPr lang="de-DE" dirty="0" err="1"/>
              <a:t>joint</a:t>
            </a:r>
            <a:r>
              <a:rPr lang="de-DE" dirty="0"/>
              <a:t> </a:t>
            </a:r>
            <a:r>
              <a:rPr lang="de-DE" dirty="0" err="1"/>
              <a:t>actions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positions</a:t>
            </a:r>
            <a:r>
              <a:rPr lang="de-DE" dirty="0"/>
              <a:t>.</a:t>
            </a:r>
          </a:p>
          <a:p>
            <a:pPr marL="342900" lvl="5" indent="-342900">
              <a:buFont typeface="+mj-lt"/>
              <a:buAutoNum type="arabicPeriod"/>
            </a:pPr>
            <a:endParaRPr lang="de-DE" dirty="0"/>
          </a:p>
          <a:p>
            <a:pPr lvl="5"/>
            <a:r>
              <a:rPr lang="de-DE" dirty="0"/>
              <a:t>Set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on </a:t>
            </a:r>
            <a:r>
              <a:rPr lang="de-DE" dirty="0" err="1"/>
              <a:t>IsaacSim</a:t>
            </a:r>
            <a:endParaRPr lang="de-DE" dirty="0"/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34d873d17d_1_0"/>
          <p:cNvSpPr txBox="1">
            <a:spLocks noGrp="1"/>
          </p:cNvSpPr>
          <p:nvPr>
            <p:ph type="title"/>
          </p:nvPr>
        </p:nvSpPr>
        <p:spPr>
          <a:xfrm>
            <a:off x="330705" y="393699"/>
            <a:ext cx="6455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Current work</a:t>
            </a:r>
            <a:endParaRPr/>
          </a:p>
        </p:txBody>
      </p:sp>
      <p:sp>
        <p:nvSpPr>
          <p:cNvPr id="168" name="Google Shape;168;g134d873d17d_1_0"/>
          <p:cNvSpPr txBox="1"/>
          <p:nvPr/>
        </p:nvSpPr>
        <p:spPr>
          <a:xfrm>
            <a:off x="492369" y="1318846"/>
            <a:ext cx="49471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578F10-3CBC-05DD-3890-D7AF7E9CE9F3}"/>
              </a:ext>
            </a:extLst>
          </p:cNvPr>
          <p:cNvSpPr txBox="1"/>
          <p:nvPr/>
        </p:nvSpPr>
        <p:spPr>
          <a:xfrm>
            <a:off x="330705" y="828136"/>
            <a:ext cx="40517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Focus on </a:t>
            </a:r>
            <a:r>
              <a:rPr lang="de-DE" dirty="0" err="1"/>
              <a:t>OpenVLA</a:t>
            </a:r>
            <a:r>
              <a:rPr lang="de-DE" dirty="0"/>
              <a:t> </a:t>
            </a:r>
            <a:r>
              <a:rPr lang="de-DE" dirty="0" err="1"/>
              <a:t>framework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Initial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running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testing</a:t>
            </a:r>
            <a:r>
              <a:rPr lang="de-DE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Prompt: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action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robot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pick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white</a:t>
            </a:r>
            <a:r>
              <a:rPr lang="de-DE" dirty="0"/>
              <a:t> </a:t>
            </a:r>
            <a:r>
              <a:rPr lang="de-DE" dirty="0" err="1"/>
              <a:t>cup</a:t>
            </a:r>
            <a:r>
              <a:rPr lang="de-DE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Result</a:t>
            </a:r>
            <a:r>
              <a:rPr lang="de-DE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As </a:t>
            </a:r>
            <a:r>
              <a:rPr lang="de-DE" dirty="0" err="1"/>
              <a:t>expected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19EFB0-32DC-3BBF-15F9-9AE2EF2BD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83082"/>
            <a:ext cx="4296133" cy="15912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81A42F-0284-2E0B-AA60-99A35AB65AC1}"/>
              </a:ext>
            </a:extLst>
          </p:cNvPr>
          <p:cNvSpPr txBox="1"/>
          <p:nvPr/>
        </p:nvSpPr>
        <p:spPr>
          <a:xfrm>
            <a:off x="7297939" y="2474370"/>
            <a:ext cx="17597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/>
              <a:t>From</a:t>
            </a:r>
            <a:r>
              <a:rPr lang="de-DE" sz="800" dirty="0"/>
              <a:t> https://openvla.github.io/</a:t>
            </a:r>
          </a:p>
        </p:txBody>
      </p:sp>
      <p:pic>
        <p:nvPicPr>
          <p:cNvPr id="9" name="Picture 8" descr="Headphones and a phone on a desk&#10;&#10;AI-generated content may be incorrect.">
            <a:extLst>
              <a:ext uri="{FF2B5EF4-FFF2-40B4-BE49-F238E27FC236}">
                <a16:creationId xmlns:a16="http://schemas.microsoft.com/office/drawing/2014/main" id="{6C1535C5-8933-4875-C123-158A4AA90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110" y="2766897"/>
            <a:ext cx="2323911" cy="17429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5ED083-E0B4-726D-7D5E-DB30DCFCEF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105" y="2236688"/>
            <a:ext cx="4296900" cy="6825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20839DC-1556-A745-22E3-FCB3CCFB165B}"/>
              </a:ext>
            </a:extLst>
          </p:cNvPr>
          <p:cNvSpPr/>
          <p:nvPr/>
        </p:nvSpPr>
        <p:spPr>
          <a:xfrm>
            <a:off x="425374" y="2518913"/>
            <a:ext cx="3652045" cy="19601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34d873d17d_1_6"/>
          <p:cNvSpPr txBox="1">
            <a:spLocks noGrp="1"/>
          </p:cNvSpPr>
          <p:nvPr>
            <p:ph type="title"/>
          </p:nvPr>
        </p:nvSpPr>
        <p:spPr>
          <a:xfrm>
            <a:off x="330705" y="393699"/>
            <a:ext cx="6455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175" name="Google Shape;175;g134d873d17d_1_6"/>
          <p:cNvSpPr txBox="1"/>
          <p:nvPr/>
        </p:nvSpPr>
        <p:spPr>
          <a:xfrm>
            <a:off x="550987" y="1101969"/>
            <a:ext cx="55098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0B72A1-4547-FC3E-D5B2-1C2A340DA025}"/>
              </a:ext>
            </a:extLst>
          </p:cNvPr>
          <p:cNvSpPr txBox="1"/>
          <p:nvPr/>
        </p:nvSpPr>
        <p:spPr>
          <a:xfrm>
            <a:off x="330705" y="845389"/>
            <a:ext cx="66336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Goal: Data Generation and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training</a:t>
            </a:r>
            <a:r>
              <a:rPr lang="de-DE" dirty="0"/>
              <a:t> on a </a:t>
            </a:r>
            <a:r>
              <a:rPr lang="de-DE" dirty="0" err="1"/>
              <a:t>simulation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Customize </a:t>
            </a:r>
            <a:r>
              <a:rPr lang="de-DE" dirty="0" err="1"/>
              <a:t>pre-trained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use-case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Simulation </a:t>
            </a:r>
            <a:r>
              <a:rPr lang="de-DE" dirty="0" err="1"/>
              <a:t>environment</a:t>
            </a:r>
            <a:r>
              <a:rPr lang="de-DE" dirty="0"/>
              <a:t> </a:t>
            </a:r>
            <a:r>
              <a:rPr lang="de-DE" dirty="0" err="1"/>
              <a:t>selection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Documentation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Applicability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robot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34d873d17d_1_12"/>
          <p:cNvSpPr txBox="1">
            <a:spLocks noGrp="1"/>
          </p:cNvSpPr>
          <p:nvPr>
            <p:ph type="title"/>
          </p:nvPr>
        </p:nvSpPr>
        <p:spPr>
          <a:xfrm>
            <a:off x="330705" y="393699"/>
            <a:ext cx="6455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Challenges &amp; Solutions</a:t>
            </a:r>
            <a:endParaRPr/>
          </a:p>
        </p:txBody>
      </p:sp>
      <p:sp>
        <p:nvSpPr>
          <p:cNvPr id="182" name="Google Shape;182;g134d873d17d_1_12"/>
          <p:cNvSpPr txBox="1"/>
          <p:nvPr/>
        </p:nvSpPr>
        <p:spPr>
          <a:xfrm>
            <a:off x="533400" y="1266092"/>
            <a:ext cx="599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On-screen Show (16:9)</PresentationFormat>
  <Paragraphs>84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Gill Sans</vt:lpstr>
      <vt:lpstr>Livvic</vt:lpstr>
      <vt:lpstr>Open Sans</vt:lpstr>
      <vt:lpstr>Open Sans Light</vt:lpstr>
      <vt:lpstr>Quattrocento Sans</vt:lpstr>
      <vt:lpstr>Simple Light</vt:lpstr>
      <vt:lpstr>PowerPoint Presentation</vt:lpstr>
      <vt:lpstr>What’s our project about?</vt:lpstr>
      <vt:lpstr>Milestones</vt:lpstr>
      <vt:lpstr>Progress</vt:lpstr>
      <vt:lpstr>Current work</vt:lpstr>
      <vt:lpstr>Challenges</vt:lpstr>
      <vt:lpstr>Challenges &amp; Solutions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Hisham</dc:creator>
  <cp:lastModifiedBy>Hisham Farid</cp:lastModifiedBy>
  <cp:revision>6</cp:revision>
  <dcterms:modified xsi:type="dcterms:W3CDTF">2025-06-20T21:05:41Z</dcterms:modified>
</cp:coreProperties>
</file>